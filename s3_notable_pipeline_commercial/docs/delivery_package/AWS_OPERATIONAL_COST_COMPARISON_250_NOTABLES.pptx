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800" lang="en-US">
                <a:solidFill>
                  <a:srgbClr val="1F2937"/>
                </a:solidFill>
                <a:latin typeface="Aptos"/>
                <a:cs typeface="Aptos"/>
              </a:rPr>
              <a:t/>
            </a:r>
            <a:endParaRPr lang="en-US"/>
          </a:p>
        </p:txBody>
      </p:sp>
      <p:sp>
        <p:nvSpPr>
          <p:cNvPr id="2" name="Title 2"/>
          <p:cNvSpPr txBox="1"/>
          <p:nvPr/>
        </p:nvSpPr>
        <p:spPr>
          <a:xfrm>
            <a:off x="502920" y="256032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2600" lang="en-US" b="1">
                <a:solidFill>
                  <a:srgbClr val="111827"/>
                </a:solidFill>
                <a:latin typeface="Aptos"/>
                <a:cs typeface="Aptos"/>
              </a:rPr>
              <a:t>AWS Operating Cost Snapshot</a:t>
            </a:r>
            <a:endParaRPr lang="en-US"/>
          </a:p>
        </p:txBody>
      </p:sp>
      <p:sp>
        <p:nvSpPr>
          <p:cNvPr id="3" name="Subtitle 3"/>
          <p:cNvSpPr txBox="1"/>
          <p:nvPr/>
        </p:nvSpPr>
        <p:spPr>
          <a:xfrm>
            <a:off x="521207" y="71323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100" lang="en-US">
                <a:solidFill>
                  <a:srgbClr val="4B5563"/>
                </a:solidFill>
                <a:latin typeface="Aptos"/>
                <a:cs typeface="Aptos"/>
              </a:rPr>
              <a:t>Assumption: ~250 notables/month (~3,000/year), one S3-triggered Lambda analysis per notable</a:t>
            </a:r>
            <a:endParaRPr lang="en-US"/>
          </a:p>
        </p:txBody>
      </p:sp>
      <p:sp>
        <p:nvSpPr>
          <p:cNvPr id="4" name="Pill 4"/>
          <p:cNvSpPr txBox="1"/>
          <p:nvPr/>
        </p:nvSpPr>
        <p:spPr>
          <a:xfrm>
            <a:off x="9326880" y="384048"/>
            <a:ext cx="2240280" cy="347472"/>
          </a:xfrm>
          <a:prstGeom prst="rect">
            <a:avLst/>
          </a:prstGeom>
          <a:solidFill>
            <a:srgbClr val="1D4ED8"/>
          </a:solidFill>
          <a:ln w="9525">
            <a:solidFill>
              <a:srgbClr val="1D4ED8"/>
            </a:solidFill>
          </a:ln>
        </p:spPr>
        <p:txBody>
          <a:bodyPr wrap="square" anchor="mid" lIns="27432" tIns="36576" rIns="27432" bIns="36576">
            <a:spAutoFit/>
          </a:bodyPr>
          <a:lstStyle/>
          <a:p>
            <a:pPr algn="ctr"/>
            <a:r>
              <a:rPr sz="1200" lang="en-US" b="1">
                <a:solidFill>
                  <a:srgbClr val="FFFFFF"/>
                </a:solidFill>
                <a:latin typeface="Aptos"/>
                <a:cs typeface="Aptos"/>
              </a:rPr>
              <a:t>Annual AWS run-rate</a:t>
            </a:r>
            <a:endParaRPr lang="en-US"/>
          </a:p>
        </p:txBody>
      </p:sp>
      <p:sp>
        <p:nvSpPr>
          <p:cNvPr id="5" name="Nova Card 5"/>
          <p:cNvSpPr txBox="1"/>
          <p:nvPr/>
        </p:nvSpPr>
        <p:spPr>
          <a:xfrm>
            <a:off x="621792" y="1207008"/>
            <a:ext cx="5394960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93C5FD"/>
            </a:solidFill>
          </a:ln>
        </p:spPr>
        <p:txBody>
          <a:bodyPr wrap="square" anchor="mid" lIns="109728" tIns="36576" rIns="109728" bIns="36576">
            <a:spAutoFit/>
          </a:bodyPr>
          <a:lstStyle/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Nova Pro-class Bedrock</a:t>
            </a:r>
            <a:endParaRPr lang="en-US"/>
          </a:p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~$1.0k/year</a:t>
            </a:r>
            <a:endParaRPr lang="en-US"/>
          </a:p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~$83/month avg | ~$0.33/notable</a:t>
            </a:r>
            <a:endParaRPr lang="en-US"/>
          </a:p>
        </p:txBody>
      </p:sp>
      <p:sp>
        <p:nvSpPr>
          <p:cNvPr id="6" name="Claude Card 6"/>
          <p:cNvSpPr txBox="1"/>
          <p:nvPr/>
        </p:nvSpPr>
        <p:spPr>
          <a:xfrm>
            <a:off x="6172200" y="1207008"/>
            <a:ext cx="5394960" cy="1234440"/>
          </a:xfrm>
          <a:prstGeom prst="rect">
            <a:avLst/>
          </a:prstGeom>
          <a:solidFill>
            <a:srgbClr val="FFF4E6"/>
          </a:solidFill>
          <a:ln w="9525">
            <a:solidFill>
              <a:srgbClr val="FDBA74"/>
            </a:solidFill>
          </a:ln>
        </p:spPr>
        <p:txBody>
          <a:bodyPr wrap="square" anchor="mid" lIns="109728" tIns="36576" rIns="109728" bIns="36576">
            <a:spAutoFit/>
          </a:bodyPr>
          <a:lstStyle/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Claude Sonnet 4.6 / similar</a:t>
            </a:r>
            <a:endParaRPr lang="en-US"/>
          </a:p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~$4.5k/year</a:t>
            </a:r>
            <a:endParaRPr lang="en-US"/>
          </a:p>
          <a:p>
            <a:pPr algn="ctr"/>
            <a:r>
              <a:rPr sz="1500" lang="en-US">
                <a:solidFill>
                  <a:srgbClr val="0F172A"/>
                </a:solidFill>
                <a:latin typeface="Aptos"/>
                <a:cs typeface="Aptos"/>
              </a:rPr>
              <a:t>~$375/month avg | ~$1.50/notable</a:t>
            </a:r>
            <a:endParaRPr lang="en-US"/>
          </a:p>
        </p:txBody>
      </p:sp>
      <p:sp>
        <p:nvSpPr>
          <p:cNvPr id="7" name="Nova Big 7"/>
          <p:cNvSpPr txBox="1"/>
          <p:nvPr/>
        </p:nvSpPr>
        <p:spPr>
          <a:xfrm>
            <a:off x="987552" y="1572768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36576" rIns="18288" bIns="36576">
            <a:spAutoFit/>
          </a:bodyPr>
          <a:lstStyle/>
          <a:p>
            <a:pPr algn="ctr"/>
            <a:r>
              <a:rPr sz="2800" lang="en-US" b="1">
                <a:solidFill>
                  <a:srgbClr val="1D4ED8"/>
                </a:solidFill>
                <a:latin typeface="Aptos"/>
                <a:cs typeface="Aptos"/>
              </a:rPr>
              <a:t>~$1.0k/year</a:t>
            </a:r>
            <a:endParaRPr lang="en-US"/>
          </a:p>
        </p:txBody>
      </p:sp>
      <p:sp>
        <p:nvSpPr>
          <p:cNvPr id="8" name="Claude Big 8"/>
          <p:cNvSpPr txBox="1"/>
          <p:nvPr/>
        </p:nvSpPr>
        <p:spPr>
          <a:xfrm>
            <a:off x="6537960" y="1572768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36576" rIns="18288" bIns="36576">
            <a:spAutoFit/>
          </a:bodyPr>
          <a:lstStyle/>
          <a:p>
            <a:pPr algn="ctr"/>
            <a:r>
              <a:rPr sz="2800" lang="en-US" b="1">
                <a:solidFill>
                  <a:srgbClr val="B45309"/>
                </a:solidFill>
                <a:latin typeface="Aptos"/>
                <a:cs typeface="Aptos"/>
              </a:rPr>
              <a:t>~$4.5k/year</a:t>
            </a:r>
            <a:endParaRPr lang="en-US"/>
          </a:p>
        </p:txBody>
      </p:sp>
      <p:sp>
        <p:nvSpPr>
          <p:cNvPr id="9" name="Header Cell 9"/>
          <p:cNvSpPr txBox="1"/>
          <p:nvPr/>
        </p:nvSpPr>
        <p:spPr>
          <a:xfrm>
            <a:off x="640080" y="2743200"/>
            <a:ext cx="4983480" cy="420624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FFFFFF"/>
                </a:solidFill>
                <a:latin typeface="Aptos"/>
                <a:cs typeface="Aptos"/>
              </a:rPr>
              <a:t>AWS cost component</a:t>
            </a:r>
            <a:endParaRPr lang="en-US"/>
          </a:p>
        </p:txBody>
      </p:sp>
      <p:sp>
        <p:nvSpPr>
          <p:cNvPr id="10" name="Header Cell 10"/>
          <p:cNvSpPr txBox="1"/>
          <p:nvPr/>
        </p:nvSpPr>
        <p:spPr>
          <a:xfrm>
            <a:off x="5623560" y="2743200"/>
            <a:ext cx="2743200" cy="420624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 b="1">
                <a:solidFill>
                  <a:srgbClr val="FFFFFF"/>
                </a:solidFill>
                <a:latin typeface="Aptos"/>
                <a:cs typeface="Aptos"/>
              </a:rPr>
              <a:t>Nova Pro</a:t>
            </a:r>
            <a:endParaRPr lang="en-US"/>
          </a:p>
        </p:txBody>
      </p:sp>
      <p:sp>
        <p:nvSpPr>
          <p:cNvPr id="11" name="Header Cell 11"/>
          <p:cNvSpPr txBox="1"/>
          <p:nvPr/>
        </p:nvSpPr>
        <p:spPr>
          <a:xfrm>
            <a:off x="8366760" y="2743200"/>
            <a:ext cx="2743200" cy="420624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 b="1">
                <a:solidFill>
                  <a:srgbClr val="FFFFFF"/>
                </a:solidFill>
                <a:latin typeface="Aptos"/>
                <a:cs typeface="Aptos"/>
              </a:rPr>
              <a:t>Sonnet 4.6 / similar</a:t>
            </a:r>
            <a:endParaRPr lang="en-US"/>
          </a:p>
        </p:txBody>
      </p:sp>
      <p:sp>
        <p:nvSpPr>
          <p:cNvPr id="12" name="Table Cell 12"/>
          <p:cNvSpPr txBox="1"/>
          <p:nvPr/>
        </p:nvSpPr>
        <p:spPr>
          <a:xfrm>
            <a:off x="640080" y="3163824"/>
            <a:ext cx="4983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374151"/>
                </a:solidFill>
                <a:latin typeface="Aptos"/>
                <a:cs typeface="Aptos"/>
              </a:rPr>
              <a:t>Bedrock model inference</a:t>
            </a:r>
            <a:endParaRPr lang="en-US"/>
          </a:p>
        </p:txBody>
      </p:sp>
      <p:sp>
        <p:nvSpPr>
          <p:cNvPr id="13" name="Table Cell 13"/>
          <p:cNvSpPr txBox="1"/>
          <p:nvPr/>
        </p:nvSpPr>
        <p:spPr>
          <a:xfrm>
            <a:off x="5623560" y="316382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$820</a:t>
            </a:r>
            <a:endParaRPr lang="en-US"/>
          </a:p>
        </p:txBody>
      </p:sp>
      <p:sp>
        <p:nvSpPr>
          <p:cNvPr id="14" name="Table Cell 14"/>
          <p:cNvSpPr txBox="1"/>
          <p:nvPr/>
        </p:nvSpPr>
        <p:spPr>
          <a:xfrm>
            <a:off x="8366760" y="316382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$4,320</a:t>
            </a:r>
            <a:endParaRPr lang="en-US"/>
          </a:p>
        </p:txBody>
      </p:sp>
      <p:sp>
        <p:nvSpPr>
          <p:cNvPr id="15" name="Table Cell 15"/>
          <p:cNvSpPr txBox="1"/>
          <p:nvPr/>
        </p:nvSpPr>
        <p:spPr>
          <a:xfrm>
            <a:off x="640080" y="3584448"/>
            <a:ext cx="498348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374151"/>
                </a:solidFill>
                <a:latin typeface="Aptos"/>
                <a:cs typeface="Aptos"/>
              </a:rPr>
              <a:t>Lambda compute + requests</a:t>
            </a:r>
            <a:endParaRPr lang="en-US"/>
          </a:p>
        </p:txBody>
      </p:sp>
      <p:sp>
        <p:nvSpPr>
          <p:cNvPr id="16" name="Table Cell 16"/>
          <p:cNvSpPr txBox="1"/>
          <p:nvPr/>
        </p:nvSpPr>
        <p:spPr>
          <a:xfrm>
            <a:off x="5623560" y="3584448"/>
            <a:ext cx="274320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$30</a:t>
            </a:r>
            <a:endParaRPr lang="en-US"/>
          </a:p>
        </p:txBody>
      </p:sp>
      <p:sp>
        <p:nvSpPr>
          <p:cNvPr id="17" name="Table Cell 17"/>
          <p:cNvSpPr txBox="1"/>
          <p:nvPr/>
        </p:nvSpPr>
        <p:spPr>
          <a:xfrm>
            <a:off x="8366760" y="3584448"/>
            <a:ext cx="274320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$30</a:t>
            </a:r>
            <a:endParaRPr lang="en-US"/>
          </a:p>
        </p:txBody>
      </p:sp>
      <p:sp>
        <p:nvSpPr>
          <p:cNvPr id="18" name="Table Cell 18"/>
          <p:cNvSpPr txBox="1"/>
          <p:nvPr/>
        </p:nvSpPr>
        <p:spPr>
          <a:xfrm>
            <a:off x="640080" y="4005072"/>
            <a:ext cx="4983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374151"/>
                </a:solidFill>
                <a:latin typeface="Aptos"/>
                <a:cs typeface="Aptos"/>
              </a:rPr>
              <a:t>S3 storage, PUT/GET, event notifications</a:t>
            </a:r>
            <a:endParaRPr lang="en-US"/>
          </a:p>
        </p:txBody>
      </p:sp>
      <p:sp>
        <p:nvSpPr>
          <p:cNvPr id="19" name="Table Cell 19"/>
          <p:cNvSpPr txBox="1"/>
          <p:nvPr/>
        </p:nvSpPr>
        <p:spPr>
          <a:xfrm>
            <a:off x="5623560" y="400507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$20</a:t>
            </a:r>
            <a:endParaRPr lang="en-US"/>
          </a:p>
        </p:txBody>
      </p:sp>
      <p:sp>
        <p:nvSpPr>
          <p:cNvPr id="20" name="Table Cell 20"/>
          <p:cNvSpPr txBox="1"/>
          <p:nvPr/>
        </p:nvSpPr>
        <p:spPr>
          <a:xfrm>
            <a:off x="8366760" y="400507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$20</a:t>
            </a:r>
            <a:endParaRPr lang="en-US"/>
          </a:p>
        </p:txBody>
      </p:sp>
      <p:sp>
        <p:nvSpPr>
          <p:cNvPr id="21" name="Table Cell 21"/>
          <p:cNvSpPr txBox="1"/>
          <p:nvPr/>
        </p:nvSpPr>
        <p:spPr>
          <a:xfrm>
            <a:off x="640080" y="4425696"/>
            <a:ext cx="498348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374151"/>
                </a:solidFill>
                <a:latin typeface="Aptos"/>
                <a:cs typeface="Aptos"/>
              </a:rPr>
              <a:t>CloudWatch logs, metrics, alarms</a:t>
            </a:r>
            <a:endParaRPr lang="en-US"/>
          </a:p>
        </p:txBody>
      </p:sp>
      <p:sp>
        <p:nvSpPr>
          <p:cNvPr id="22" name="Table Cell 22"/>
          <p:cNvSpPr txBox="1"/>
          <p:nvPr/>
        </p:nvSpPr>
        <p:spPr>
          <a:xfrm>
            <a:off x="5623560" y="4425696"/>
            <a:ext cx="274320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$80</a:t>
            </a:r>
            <a:endParaRPr lang="en-US"/>
          </a:p>
        </p:txBody>
      </p:sp>
      <p:sp>
        <p:nvSpPr>
          <p:cNvPr id="23" name="Table Cell 23"/>
          <p:cNvSpPr txBox="1"/>
          <p:nvPr/>
        </p:nvSpPr>
        <p:spPr>
          <a:xfrm>
            <a:off x="8366760" y="4425696"/>
            <a:ext cx="2743200" cy="420624"/>
          </a:xfrm>
          <a:prstGeom prst="rect">
            <a:avLst/>
          </a:prstGeom>
          <a:solidFill>
            <a:srgbClr val="F3F4F6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$80</a:t>
            </a:r>
            <a:endParaRPr lang="en-US"/>
          </a:p>
        </p:txBody>
      </p:sp>
      <p:sp>
        <p:nvSpPr>
          <p:cNvPr id="24" name="Table Cell 24"/>
          <p:cNvSpPr txBox="1"/>
          <p:nvPr/>
        </p:nvSpPr>
        <p:spPr>
          <a:xfrm>
            <a:off x="640080" y="4846320"/>
            <a:ext cx="49834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200" lang="en-US" b="1">
                <a:solidFill>
                  <a:srgbClr val="374151"/>
                </a:solidFill>
                <a:latin typeface="Aptos"/>
                <a:cs typeface="Aptos"/>
              </a:rPr>
              <a:t>KMS, EventBridge/IAM control-plane, misc.</a:t>
            </a:r>
            <a:endParaRPr lang="en-US"/>
          </a:p>
        </p:txBody>
      </p:sp>
      <p:sp>
        <p:nvSpPr>
          <p:cNvPr id="25" name="Table Cell 25"/>
          <p:cNvSpPr txBox="1"/>
          <p:nvPr/>
        </p:nvSpPr>
        <p:spPr>
          <a:xfrm>
            <a:off x="5623560" y="4846320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$50</a:t>
            </a:r>
            <a:endParaRPr lang="en-US"/>
          </a:p>
        </p:txBody>
      </p:sp>
      <p:sp>
        <p:nvSpPr>
          <p:cNvPr id="26" name="Table Cell 26"/>
          <p:cNvSpPr txBox="1"/>
          <p:nvPr/>
        </p:nvSpPr>
        <p:spPr>
          <a:xfrm>
            <a:off x="8366760" y="4846320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200" lang="en-US">
                <a:solidFill>
                  <a:srgbClr val="374151"/>
                </a:solidFill>
                <a:latin typeface="Aptos"/>
                <a:cs typeface="Aptos"/>
              </a:rPr>
              <a:t>$50</a:t>
            </a:r>
            <a:endParaRPr lang="en-US"/>
          </a:p>
        </p:txBody>
      </p:sp>
      <p:sp>
        <p:nvSpPr>
          <p:cNvPr id="27" name="Table Cell 27"/>
          <p:cNvSpPr txBox="1"/>
          <p:nvPr/>
        </p:nvSpPr>
        <p:spPr>
          <a:xfrm>
            <a:off x="640080" y="5266944"/>
            <a:ext cx="4983480" cy="420624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l"/>
            <a:r>
              <a:rPr sz="1300" lang="en-US" b="1">
                <a:solidFill>
                  <a:srgbClr val="111827"/>
                </a:solidFill>
                <a:latin typeface="Aptos"/>
                <a:cs typeface="Aptos"/>
              </a:rPr>
              <a:t>Estimated annual AWS total</a:t>
            </a:r>
            <a:endParaRPr lang="en-US"/>
          </a:p>
        </p:txBody>
      </p:sp>
      <p:sp>
        <p:nvSpPr>
          <p:cNvPr id="28" name="Table Cell 28"/>
          <p:cNvSpPr txBox="1"/>
          <p:nvPr/>
        </p:nvSpPr>
        <p:spPr>
          <a:xfrm>
            <a:off x="5623560" y="5266944"/>
            <a:ext cx="2743200" cy="420624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300" lang="en-US" b="1">
                <a:solidFill>
                  <a:srgbClr val="111827"/>
                </a:solidFill>
                <a:latin typeface="Aptos"/>
                <a:cs typeface="Aptos"/>
              </a:rPr>
              <a:t>~$1,000</a:t>
            </a:r>
            <a:endParaRPr lang="en-US"/>
          </a:p>
        </p:txBody>
      </p:sp>
      <p:sp>
        <p:nvSpPr>
          <p:cNvPr id="29" name="Table Cell 29"/>
          <p:cNvSpPr txBox="1"/>
          <p:nvPr/>
        </p:nvSpPr>
        <p:spPr>
          <a:xfrm>
            <a:off x="8366760" y="5266944"/>
            <a:ext cx="2743200" cy="420624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</a:ln>
        </p:spPr>
        <p:txBody>
          <a:bodyPr wrap="square" anchor="mid" lIns="73152" tIns="36576" rIns="73152" bIns="36576">
            <a:spAutoFit/>
          </a:bodyPr>
          <a:lstStyle/>
          <a:p>
            <a:pPr algn="ctr"/>
            <a:r>
              <a:rPr sz="1300" lang="en-US" b="1">
                <a:solidFill>
                  <a:srgbClr val="111827"/>
                </a:solidFill>
                <a:latin typeface="Aptos"/>
                <a:cs typeface="Aptos"/>
              </a:rPr>
              <a:t>~$4,500</a:t>
            </a:r>
            <a:endParaRPr lang="en-US"/>
          </a:p>
        </p:txBody>
      </p:sp>
      <p:sp>
        <p:nvSpPr>
          <p:cNvPr id="30" name="Takeaway 30"/>
          <p:cNvSpPr txBox="1"/>
          <p:nvPr/>
        </p:nvSpPr>
        <p:spPr>
          <a:xfrm>
            <a:off x="640080" y="5797296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91440" tIns="36576" rIns="91440" bIns="36576">
            <a:spAutoFit/>
          </a:bodyPr>
          <a:lstStyle/>
          <a:p>
            <a:pPr algn="ctr"/>
            <a:r>
              <a:rPr sz="1000" lang="en-US">
                <a:solidFill>
                  <a:srgbClr val="374151"/>
                </a:solidFill>
                <a:latin typeface="Aptos"/>
                <a:cs typeface="Aptos"/>
              </a:rPr>
              <a:t>Main takeaway: Bedrock dominates the bill; Lambda, S3, and CloudWatch stay small at this volume.</a:t>
            </a:r>
            <a:endParaRPr lang="en-US"/>
          </a:p>
        </p:txBody>
      </p:sp>
      <p:sp>
        <p:nvSpPr>
          <p:cNvPr id="31" name="Infra Note 31"/>
          <p:cNvSpPr txBox="1"/>
          <p:nvPr/>
        </p:nvSpPr>
        <p:spPr>
          <a:xfrm>
            <a:off x="4480560" y="5797296"/>
            <a:ext cx="3337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91440" tIns="36576" rIns="91440" bIns="36576">
            <a:spAutoFit/>
          </a:bodyPr>
          <a:lstStyle/>
          <a:p>
            <a:pPr algn="ctr"/>
            <a:r>
              <a:rPr sz="1000" lang="en-US">
                <a:solidFill>
                  <a:srgbClr val="374151"/>
                </a:solidFill>
                <a:latin typeface="Aptos"/>
                <a:cs typeface="Aptos"/>
              </a:rPr>
              <a:t>Infrastructure overhead modeled at ~$180/year for both options.</a:t>
            </a:r>
            <a:endParaRPr lang="en-US"/>
          </a:p>
        </p:txBody>
      </p:sp>
      <p:sp>
        <p:nvSpPr>
          <p:cNvPr id="32" name="Exclusions 32"/>
          <p:cNvSpPr txBox="1"/>
          <p:nvPr/>
        </p:nvSpPr>
        <p:spPr>
          <a:xfrm>
            <a:off x="7955279" y="5797296"/>
            <a:ext cx="36118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anchor="mid" lIns="91440" tIns="36576" rIns="91440" bIns="36576">
            <a:spAutoFit/>
          </a:bodyPr>
          <a:lstStyle/>
          <a:p>
            <a:pPr algn="ctr"/>
            <a:r>
              <a:rPr sz="1000" lang="en-US">
                <a:solidFill>
                  <a:srgbClr val="374151"/>
                </a:solidFill>
                <a:latin typeface="Aptos"/>
                <a:cs typeface="Aptos"/>
              </a:rPr>
              <a:t>Excludes SIEM/SOAR tools, labor, support plans, taxes, large retries, and unusual data transfer.</a:t>
            </a:r>
            <a:endParaRPr lang="en-US"/>
          </a:p>
        </p:txBody>
      </p:sp>
      <p:sp>
        <p:nvSpPr>
          <p:cNvPr id="33" name="Footnote 33"/>
          <p:cNvSpPr txBox="1"/>
          <p:nvPr/>
        </p:nvSpPr>
        <p:spPr>
          <a:xfrm>
            <a:off x="658368" y="6355080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36576" rIns="18288" bIns="36576">
            <a:spAutoFit/>
          </a:bodyPr>
          <a:lstStyle/>
          <a:p>
            <a:pPr algn="l"/>
            <a:r>
              <a:rPr sz="800" lang="en-US">
                <a:solidFill>
                  <a:srgbClr val="64748B"/>
                </a:solidFill>
                <a:latin typeface="Aptos"/>
                <a:cs typeface="Aptos"/>
              </a:rPr>
              <a:t>Planning estimate only. Actual costs vary by AWS region, token volume per notable, prompt/report length, retry rate, and selected Bedrock model pricing.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t Snapshot">
  <a:themeElements>
    <a:clrScheme name="Cost Snapshot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1D4ED8"/>
      </a:accent1>
      <a:accent2>
        <a:srgbClr val="B45309"/>
      </a:accent2>
      <a:accent3>
        <a:srgbClr val="64748B"/>
      </a:accent3>
      <a:accent4>
        <a:srgbClr val="16A34A"/>
      </a:accent4>
      <a:accent5>
        <a:srgbClr val="9333EA"/>
      </a:accent5>
      <a:accent6>
        <a:srgbClr val="DC262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 Generated Presentation</Application>
  <PresentationFormat>On-screen Show (16:9)</PresentationFormat>
  <Slides>1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Operating Cost Snapshot</dc:title>
  <dc:creator>Cursor</dc:creator>
  <cp:lastModifiedBy>Cursor</cp:lastModifiedBy>
  <dcterms:created xsi:type="dcterms:W3CDTF">2026-05-28T14:53:13Z</dcterms:created>
  <dcterms:modified xsi:type="dcterms:W3CDTF">2026-05-28T14:53:13Z</dcterms:modified>
</cp:coreProperties>
</file>